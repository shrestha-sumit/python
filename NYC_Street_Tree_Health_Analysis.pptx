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09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58"/>
    <p:restoredTop sz="94631"/>
  </p:normalViewPr>
  <p:slideViewPr>
    <p:cSldViewPr snapToGrid="0">
      <p:cViewPr varScale="1">
        <p:scale>
          <a:sx n="88" d="100"/>
          <a:sy n="88" d="100"/>
        </p:scale>
        <p:origin x="176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BFE928-6552-7A42-AFF2-5A9C8F0AD35B}" type="datetimeFigureOut">
              <a:rPr lang="en-US" smtClean="0"/>
              <a:t>10/7/26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E8EF7E-E505-9A49-8931-F3155A2138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9736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E8EF7E-E505-9A49-8931-F3155A21386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5566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DEC014E-32E8-BC91-190E-85B3C74C9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8" y="964075"/>
            <a:ext cx="4654297" cy="3739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0" y="4822842"/>
            <a:ext cx="4206240" cy="1380744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2603722-CE80-C718-39E9-BB79F1F68C3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84C280F-E753-FE97-A722-F86168AC97B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41248" y="964074"/>
            <a:ext cx="5403280" cy="5258929"/>
          </a:xfrm>
          <a:custGeom>
            <a:avLst/>
            <a:gdLst>
              <a:gd name="connsiteX0" fmla="*/ 2701640 w 5403280"/>
              <a:gd name="connsiteY0" fmla="*/ 0 h 5258929"/>
              <a:gd name="connsiteX1" fmla="*/ 5403280 w 5403280"/>
              <a:gd name="connsiteY1" fmla="*/ 2701640 h 5258929"/>
              <a:gd name="connsiteX2" fmla="*/ 5403280 w 5403280"/>
              <a:gd name="connsiteY2" fmla="*/ 5258929 h 5258929"/>
              <a:gd name="connsiteX3" fmla="*/ 0 w 5403280"/>
              <a:gd name="connsiteY3" fmla="*/ 5258929 h 5258929"/>
              <a:gd name="connsiteX4" fmla="*/ 0 w 5403280"/>
              <a:gd name="connsiteY4" fmla="*/ 2701640 h 5258929"/>
              <a:gd name="connsiteX5" fmla="*/ 2701640 w 5403280"/>
              <a:gd name="connsiteY5" fmla="*/ 0 h 5258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3280" h="5258929">
                <a:moveTo>
                  <a:pt x="2701640" y="0"/>
                </a:moveTo>
                <a:cubicBezTo>
                  <a:pt x="4193715" y="0"/>
                  <a:pt x="5403280" y="1209565"/>
                  <a:pt x="5403280" y="2701640"/>
                </a:cubicBezTo>
                <a:lnTo>
                  <a:pt x="5403280" y="5258929"/>
                </a:lnTo>
                <a:lnTo>
                  <a:pt x="0" y="5258929"/>
                </a:lnTo>
                <a:lnTo>
                  <a:pt x="0" y="2701640"/>
                </a:lnTo>
                <a:cubicBezTo>
                  <a:pt x="0" y="1209565"/>
                  <a:pt x="1209565" y="0"/>
                  <a:pt x="2701640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noFill/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17A08-C834-F239-A3DF-2D1295F0AE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7FEFBF98-1A40-5348-818B-B3B0F42FB182}" type="datetimeFigureOut">
              <a:rPr lang="en-US" smtClean="0"/>
              <a:t>10/7/26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E80C6A5-61FE-078D-49D9-31BD1294014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8345E9D-D172-A141-8AB9-715EF1F37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1094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E6C4595-90D4-94E6-CEBA-82807457D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658679"/>
            <a:ext cx="10780776" cy="49250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FEFBF98-1A40-5348-818B-B3B0F42FB182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8345E9D-D172-A141-8AB9-715EF1F37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330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5218032"/>
            <a:ext cx="10972800" cy="786384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5972629"/>
            <a:ext cx="10972800" cy="480373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986425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88BD73-E6AB-68A9-F41B-313E0C44777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396119" y="5787191"/>
            <a:ext cx="15034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AA6162-61A3-2C41-311C-F407FC4B4DA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EFBF98-1A40-5348-818B-B3B0F42FB182}" type="datetimeFigureOut">
              <a:rPr lang="en-US" smtClean="0"/>
              <a:t>10/7/26</a:t>
            </a:fld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DABF624-39B6-C7A2-98E7-26593626B4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498994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6B102F-64E7-9387-1F8F-DB4AC825773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8345E9D-D172-A141-8AB9-715EF1F37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26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E84C31D-CC85-27E5-FD9F-627C926D5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78608"/>
            <a:ext cx="7879335" cy="3592629"/>
          </a:xfrm>
        </p:spPr>
        <p:txBody>
          <a:bodyPr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10B934F-7AD0-6CA4-BC4D-9CC30854B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1714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F6486-38AE-54F6-E2F3-8B944C3F1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41BD916-71AE-106E-105D-01655950FC4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87800" y="368300"/>
            <a:ext cx="7375525" cy="1014413"/>
          </a:xfrm>
        </p:spPr>
        <p:txBody>
          <a:bodyPr anchor="ctr">
            <a:normAutofit/>
          </a:bodyPr>
          <a:lstStyle>
            <a:lvl1pPr algn="r"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D0054-227E-4953-9BB1-7141F9024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FBF98-1A40-5348-818B-B3B0F42FB182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2E0F1-15E9-E241-9959-A6D46B69E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45E9D-D172-A141-8AB9-715EF1F37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2584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842852-3CDE-22AD-D5F0-AAF8279A0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9536"/>
            <a:ext cx="9546336" cy="3675885"/>
          </a:xfrm>
        </p:spPr>
        <p:txBody>
          <a:bodyPr anchor="t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FEFBF98-1A40-5348-818B-B3B0F42FB182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8345E9D-D172-A141-8AB9-715EF1F37888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4D523C5-E38D-F0DE-48C0-B6B8404B6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5143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57825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C4EF7E11-76D4-64FA-465B-165405450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947" y="1296083"/>
            <a:ext cx="4353325" cy="4265835"/>
          </a:xfrm>
          <a:custGeom>
            <a:avLst/>
            <a:gdLst>
              <a:gd name="connsiteX0" fmla="*/ 2176663 w 4353325"/>
              <a:gd name="connsiteY0" fmla="*/ 0 h 4265835"/>
              <a:gd name="connsiteX1" fmla="*/ 4353325 w 4353325"/>
              <a:gd name="connsiteY1" fmla="*/ 2176662 h 4265835"/>
              <a:gd name="connsiteX2" fmla="*/ 4353325 w 4353325"/>
              <a:gd name="connsiteY2" fmla="*/ 2712923 h 4265835"/>
              <a:gd name="connsiteX3" fmla="*/ 4353325 w 4353325"/>
              <a:gd name="connsiteY3" fmla="*/ 3733873 h 4265835"/>
              <a:gd name="connsiteX4" fmla="*/ 4353325 w 4353325"/>
              <a:gd name="connsiteY4" fmla="*/ 4265835 h 4265835"/>
              <a:gd name="connsiteX5" fmla="*/ 0 w 4353325"/>
              <a:gd name="connsiteY5" fmla="*/ 4265835 h 4265835"/>
              <a:gd name="connsiteX6" fmla="*/ 0 w 4353325"/>
              <a:gd name="connsiteY6" fmla="*/ 3733873 h 4265835"/>
              <a:gd name="connsiteX7" fmla="*/ 0 w 4353325"/>
              <a:gd name="connsiteY7" fmla="*/ 2712923 h 4265835"/>
              <a:gd name="connsiteX8" fmla="*/ 0 w 4353325"/>
              <a:gd name="connsiteY8" fmla="*/ 2176662 h 4265835"/>
              <a:gd name="connsiteX9" fmla="*/ 2176663 w 4353325"/>
              <a:gd name="connsiteY9" fmla="*/ 0 h 4265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53325" h="4265835">
                <a:moveTo>
                  <a:pt x="2176663" y="0"/>
                </a:moveTo>
                <a:cubicBezTo>
                  <a:pt x="3378800" y="0"/>
                  <a:pt x="4353325" y="974525"/>
                  <a:pt x="4353325" y="2176662"/>
                </a:cubicBezTo>
                <a:lnTo>
                  <a:pt x="4353325" y="2712923"/>
                </a:lnTo>
                <a:lnTo>
                  <a:pt x="4353325" y="3733873"/>
                </a:lnTo>
                <a:lnTo>
                  <a:pt x="4353325" y="4265835"/>
                </a:lnTo>
                <a:lnTo>
                  <a:pt x="0" y="4265835"/>
                </a:lnTo>
                <a:lnTo>
                  <a:pt x="0" y="3733873"/>
                </a:lnTo>
                <a:lnTo>
                  <a:pt x="0" y="2712923"/>
                </a:lnTo>
                <a:lnTo>
                  <a:pt x="0" y="2176662"/>
                </a:lnTo>
                <a:cubicBezTo>
                  <a:pt x="0" y="974525"/>
                  <a:pt x="974525" y="0"/>
                  <a:pt x="2176663" y="0"/>
                </a:cubicBezTo>
                <a:close/>
              </a:path>
            </a:pathLst>
          </a:custGeom>
          <a:ln w="6350">
            <a:solidFill>
              <a:schemeClr val="tx1"/>
            </a:solidFill>
          </a:ln>
        </p:spPr>
        <p:txBody>
          <a:bodyPr wrap="square" lIns="182880" tIns="914400" rIns="182880" anchor="ctr" anchorCtr="0">
            <a:no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35056" y="1296083"/>
            <a:ext cx="4325112" cy="4265835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FEFBF98-1A40-5348-818B-B3B0F42FB182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8345E9D-D172-A141-8AB9-715EF1F37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672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05B5E-C545-4763-BA47-4C2C0FCA5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704" y="4608576"/>
            <a:ext cx="4169664" cy="1609344"/>
          </a:xfrm>
        </p:spPr>
        <p:txBody>
          <a:bodyPr anchor="t" anchorCtr="0">
            <a:no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D23AA-8F22-4B09-8FAA-CD16E5D66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E5AAB3D-814D-597A-6ADE-F522A8116DCD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1257301" y="1097280"/>
            <a:ext cx="3776470" cy="3168100"/>
          </a:xfrm>
          <a:custGeom>
            <a:avLst/>
            <a:gdLst>
              <a:gd name="connsiteX0" fmla="*/ 1888235 w 3776470"/>
              <a:gd name="connsiteY0" fmla="*/ 0 h 3168100"/>
              <a:gd name="connsiteX1" fmla="*/ 3776470 w 3776470"/>
              <a:gd name="connsiteY1" fmla="*/ 1888235 h 3168100"/>
              <a:gd name="connsiteX2" fmla="*/ 3776470 w 3776470"/>
              <a:gd name="connsiteY2" fmla="*/ 3168100 h 3168100"/>
              <a:gd name="connsiteX3" fmla="*/ 0 w 3776470"/>
              <a:gd name="connsiteY3" fmla="*/ 3168100 h 3168100"/>
              <a:gd name="connsiteX4" fmla="*/ 0 w 3776470"/>
              <a:gd name="connsiteY4" fmla="*/ 1888235 h 3168100"/>
              <a:gd name="connsiteX5" fmla="*/ 1888235 w 3776470"/>
              <a:gd name="connsiteY5" fmla="*/ 0 h 316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76470" h="3168100">
                <a:moveTo>
                  <a:pt x="1888235" y="0"/>
                </a:moveTo>
                <a:cubicBezTo>
                  <a:pt x="2931078" y="0"/>
                  <a:pt x="3776470" y="845392"/>
                  <a:pt x="3776470" y="1888235"/>
                </a:cubicBezTo>
                <a:lnTo>
                  <a:pt x="3776470" y="3168100"/>
                </a:lnTo>
                <a:lnTo>
                  <a:pt x="0" y="3168100"/>
                </a:lnTo>
                <a:lnTo>
                  <a:pt x="0" y="1888235"/>
                </a:lnTo>
                <a:cubicBezTo>
                  <a:pt x="0" y="845392"/>
                  <a:pt x="845392" y="0"/>
                  <a:pt x="1888235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263F8-8E34-4910-BF7A-F1C5A9968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1464" y="841248"/>
            <a:ext cx="4215384" cy="5330952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  <a:lvl2pPr algn="ctr">
              <a:defRPr>
                <a:solidFill>
                  <a:schemeClr val="tx1"/>
                </a:solidFill>
              </a:defRPr>
            </a:lvl2pPr>
            <a:lvl3pPr algn="ctr">
              <a:defRPr>
                <a:solidFill>
                  <a:schemeClr val="tx1"/>
                </a:solidFill>
              </a:defRPr>
            </a:lvl3pPr>
            <a:lvl4pPr algn="ctr">
              <a:defRPr>
                <a:solidFill>
                  <a:schemeClr val="tx1"/>
                </a:solidFill>
              </a:defRPr>
            </a:lvl4pPr>
            <a:lvl5pPr algn="ctr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E74E5-D20D-4AB7-8D98-F336CE0EC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FEFBF98-1A40-5348-818B-B3B0F42FB182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8A028-A0C8-45E7-915E-B83FF59C9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8345E9D-D172-A141-8AB9-715EF1F37888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CD2C868-CE73-A5B1-1389-62A23B14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9708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13930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4" y="2615184"/>
            <a:ext cx="3813048" cy="3557016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841248"/>
            <a:ext cx="4956175" cy="355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FEFBF98-1A40-5348-818B-B3B0F42FB182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8345E9D-D172-A141-8AB9-715EF1F37888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F4378AB-83E7-8777-F6CD-8F19BA4FE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5016203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6794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841248"/>
            <a:ext cx="2999232" cy="5184648"/>
          </a:xfrm>
        </p:spPr>
        <p:txBody>
          <a:bodyPr anchor="t" anchorCtr="0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66926" y="841248"/>
            <a:ext cx="6260154" cy="518464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FEFBF98-1A40-5348-818B-B3B0F42FB182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8345E9D-D172-A141-8AB9-715EF1F37888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8293A07-68F2-BD10-B738-E87F3F3D8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418221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16618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1152" y="990511"/>
            <a:ext cx="2565593" cy="1858941"/>
          </a:xfrm>
        </p:spPr>
        <p:txBody>
          <a:bodyPr anchor="b"/>
          <a:lstStyle>
            <a:lvl1pPr>
              <a:def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2271" y="3011335"/>
            <a:ext cx="2559977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8BD5A515-9970-0784-7927-52F94C270B4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292564" y="1592958"/>
            <a:ext cx="2973522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8523CCEC-6BB2-B704-95E2-87FED823C5B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FEFBF98-1A40-5348-818B-B3B0F42FB182}" type="datetimeFigureOut">
              <a:rPr lang="en-US" smtClean="0"/>
              <a:t>10/7/26</a:t>
            </a:fld>
            <a:endParaRPr lang="en-US"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1208465C-8C77-73BF-D18F-D01907BAC86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12296" y="6356350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8345E9D-D172-A141-8AB9-715EF1F37888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0E2A219-E459-07B3-1ED3-CBF7D239B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32057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8986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0" y="548640"/>
            <a:ext cx="6093225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793885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03520" y="1828800"/>
            <a:ext cx="6071616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F483F68-3490-71E7-A7DA-DA46BC48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79715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45FA4-0621-D8F1-73D0-046B7F4D771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7FEFBF98-1A40-5348-818B-B3B0F42FB182}" type="datetimeFigureOut">
              <a:rPr lang="en-US" smtClean="0"/>
              <a:t>10/7/26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4C51678-E871-8AD4-08DA-BF7B7013A35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10292565" y="1592957"/>
            <a:ext cx="297352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CD01CE4-E064-7D2F-7D3A-9DA85E2777F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8345E9D-D172-A141-8AB9-715EF1F37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5542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48640"/>
            <a:ext cx="6135624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828800"/>
            <a:ext cx="6135624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400544" y="0"/>
            <a:ext cx="4791456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BC07157-DE89-FE2F-0547-2E4055913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382022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A0C5A-6673-53CC-030B-67BA133D9741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7FEFBF98-1A40-5348-818B-B3B0F42FB182}" type="datetimeFigureOut">
              <a:rPr lang="en-US" smtClean="0"/>
              <a:t>10/7/26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2521688-F793-E4F2-732B-EEE6F58B758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DBE29E-7417-B57C-BA94-1DBC14BE461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68345E9D-D172-A141-8AB9-715EF1F37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9358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6858000" cy="932688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6858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C626C00-7A36-46A2-880D-F484910B34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077761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FF6D8B-36A2-DF79-CDB9-885694DCA71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7FEFBF98-1A40-5348-818B-B3B0F42FB182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2396A-E38F-CC9C-7303-71F99D08208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B0E4B-031C-4F2A-1993-D824DD71F7D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68345E9D-D172-A141-8AB9-715EF1F37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3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83413"/>
            <a:ext cx="4361688" cy="1262639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979461"/>
            <a:ext cx="4360863" cy="432926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45480" y="0"/>
            <a:ext cx="6446520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81977D-48BC-F135-96F9-1655E4BEE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73212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EA981C2C-E0DD-29A7-8209-50D66488152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7FEFBF98-1A40-5348-818B-B3B0F42FB182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205369F-8CCB-402F-9055-2BF12262B54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3591F2-4BD3-37D0-B00E-B2CD5F47A36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68345E9D-D172-A141-8AB9-715EF1F37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8473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4572000" cy="932688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4572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17720" y="0"/>
            <a:ext cx="6274279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18BEB48-A052-9364-6EF6-F698004CA5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91172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417D8113-ECE6-D6F5-9CA4-C96A535F4799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7FEFBF98-1A40-5348-818B-B3B0F42FB182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29A0137-F97A-8194-464D-3B7D4814A8A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3FE5686-63A9-B1A1-5734-F96A9651465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68345E9D-D172-A141-8AB9-715EF1F37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4187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4635132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485E715F-A05B-F2BC-ABF4-447E9B58E0C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499001" y="5684309"/>
            <a:ext cx="170920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632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 marL="22860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2pPr>
            <a:lvl3pPr marL="457200" indent="0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3pPr>
            <a:lvl4pPr marL="685800" indent="0"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</a:defRPr>
            </a:lvl4pPr>
            <a:lvl5pPr marL="914400" indent="0">
              <a:buFont typeface="Arial" panose="020B0604020202020204" pitchFamily="34" charset="0"/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1173959" y="5435073"/>
            <a:ext cx="1210734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FEFBF98-1A40-5348-818B-B3B0F42FB182}" type="datetimeFigureOut">
              <a:rPr lang="en-US" smtClean="0"/>
              <a:t>10/7/26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8345E9D-D172-A141-8AB9-715EF1F37888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A2B6090-1D21-5610-7943-4C4F96A6C7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463823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17237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882896"/>
            <a:ext cx="3657603" cy="1453896"/>
          </a:xfrm>
        </p:spPr>
        <p:txBody>
          <a:bodyPr anchor="t">
            <a:norm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838F5DE0-1AA8-5320-EBEC-7B2EEF39963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1520" y="548642"/>
            <a:ext cx="3490175" cy="4041647"/>
          </a:xfrm>
          <a:custGeom>
            <a:avLst/>
            <a:gdLst>
              <a:gd name="connsiteX0" fmla="*/ 1745088 w 3490175"/>
              <a:gd name="connsiteY0" fmla="*/ 0 h 4041647"/>
              <a:gd name="connsiteX1" fmla="*/ 3490175 w 3490175"/>
              <a:gd name="connsiteY1" fmla="*/ 1745088 h 4041647"/>
              <a:gd name="connsiteX2" fmla="*/ 3490175 w 3490175"/>
              <a:gd name="connsiteY2" fmla="*/ 3141232 h 4041647"/>
              <a:gd name="connsiteX3" fmla="*/ 3490175 w 3490175"/>
              <a:gd name="connsiteY3" fmla="*/ 3490175 h 4041647"/>
              <a:gd name="connsiteX4" fmla="*/ 3490175 w 3490175"/>
              <a:gd name="connsiteY4" fmla="*/ 4041647 h 4041647"/>
              <a:gd name="connsiteX5" fmla="*/ 0 w 3490175"/>
              <a:gd name="connsiteY5" fmla="*/ 4041647 h 4041647"/>
              <a:gd name="connsiteX6" fmla="*/ 0 w 3490175"/>
              <a:gd name="connsiteY6" fmla="*/ 3490175 h 4041647"/>
              <a:gd name="connsiteX7" fmla="*/ 0 w 3490175"/>
              <a:gd name="connsiteY7" fmla="*/ 3141232 h 4041647"/>
              <a:gd name="connsiteX8" fmla="*/ 0 w 3490175"/>
              <a:gd name="connsiteY8" fmla="*/ 1745088 h 4041647"/>
              <a:gd name="connsiteX9" fmla="*/ 1745088 w 3490175"/>
              <a:gd name="connsiteY9" fmla="*/ 0 h 404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90175" h="4041647">
                <a:moveTo>
                  <a:pt x="1745088" y="0"/>
                </a:moveTo>
                <a:cubicBezTo>
                  <a:pt x="2708873" y="0"/>
                  <a:pt x="3490175" y="781302"/>
                  <a:pt x="3490175" y="1745088"/>
                </a:cubicBezTo>
                <a:lnTo>
                  <a:pt x="3490175" y="3141232"/>
                </a:lnTo>
                <a:lnTo>
                  <a:pt x="3490175" y="3490175"/>
                </a:lnTo>
                <a:lnTo>
                  <a:pt x="3490175" y="4041647"/>
                </a:lnTo>
                <a:lnTo>
                  <a:pt x="0" y="4041647"/>
                </a:lnTo>
                <a:lnTo>
                  <a:pt x="0" y="3490175"/>
                </a:lnTo>
                <a:lnTo>
                  <a:pt x="0" y="3141232"/>
                </a:lnTo>
                <a:lnTo>
                  <a:pt x="0" y="1745088"/>
                </a:lnTo>
                <a:cubicBezTo>
                  <a:pt x="0" y="781302"/>
                  <a:pt x="781302" y="0"/>
                  <a:pt x="1745088" y="0"/>
                </a:cubicBezTo>
                <a:close/>
              </a:path>
            </a:pathLst>
          </a:custGeom>
          <a:blipFill dpi="0" rotWithShape="1">
            <a:blip r:embed="rId2">
              <a:alphaModFix amt="81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37760" y="549275"/>
            <a:ext cx="6561138" cy="575945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FEFBF98-1A40-5348-818B-B3B0F42FB182}" type="datetimeFigureOut">
              <a:rPr lang="en-US" smtClean="0"/>
              <a:t>10/7/26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8345E9D-D172-A141-8AB9-715EF1F37888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19C3A72-7CAE-129F-7490-B687280EF1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646117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65515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164" y="559341"/>
            <a:ext cx="1075567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3C89FBB9-2C05-A4C1-ECB4-D6A5C4219E4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BBB07A11-50DE-6BC0-0514-6E2C14A4798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16200000" flipH="1">
            <a:off x="-997746" y="4594946"/>
            <a:ext cx="2706690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7FEFBF98-1A40-5348-818B-B3B0F42FB182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03ED5F49-F9F7-05A9-62AC-C9C8DF2EADE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8569" y="6264201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8345E9D-D172-A141-8AB9-715EF1F3788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1200" y="1713652"/>
            <a:ext cx="4387012" cy="46129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7" y="1713653"/>
            <a:ext cx="6533071" cy="5144347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dirty="0"/>
            </a:lvl1pPr>
          </a:lstStyle>
          <a:p>
            <a:pPr marL="285750" lvl="0" indent="-28575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961303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B7BBF55A-D91F-143D-FBB6-73995F00E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4937761"/>
            <a:ext cx="6987537" cy="1353312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spcBef>
                <a:spcPts val="1000"/>
              </a:spcBef>
              <a:defRPr sz="2800" cap="none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72A4B4E-0B2F-F1BB-322A-713D1FB5F2F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057400" y="549021"/>
            <a:ext cx="9455150" cy="4333875"/>
          </a:xfrm>
        </p:spPr>
        <p:txBody>
          <a:bodyPr anchor="b">
            <a:normAutofit/>
          </a:bodyPr>
          <a:lstStyle>
            <a:lvl1pPr>
              <a:defRPr sz="23200"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FEFBF98-1A40-5348-818B-B3B0F42FB182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8345E9D-D172-A141-8AB9-715EF1F37888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546D47F-2AE5-2705-911C-52BBD6B7D8EA}"/>
              </a:ext>
            </a:extLst>
          </p:cNvPr>
          <p:cNvCxnSpPr>
            <a:cxnSpLocks/>
          </p:cNvCxnSpPr>
          <p:nvPr/>
        </p:nvCxnSpPr>
        <p:spPr>
          <a:xfrm flipV="1">
            <a:off x="137160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31428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-1228126"/>
            <a:ext cx="10652760" cy="1133856"/>
          </a:xfrm>
        </p:spPr>
        <p:txBody>
          <a:bodyPr/>
          <a:lstStyle>
            <a:lvl1pPr>
              <a:defRPr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AA4897F-B66E-DAD4-F56C-6152B417CC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24138" y="2268748"/>
            <a:ext cx="6943724" cy="3954255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1pPr>
            <a:lvl2pPr marL="2286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2pPr>
            <a:lvl3pPr marL="4572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3pPr>
            <a:lvl4pPr marL="6858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4pPr>
            <a:lvl5pPr marL="9144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FEFBF98-1A40-5348-818B-B3B0F42FB182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8345E9D-D172-A141-8AB9-715EF1F3788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reeform: Shape 15">
            <a:extLst>
              <a:ext uri="{FF2B5EF4-FFF2-40B4-BE49-F238E27FC236}">
                <a16:creationId xmlns:a16="http://schemas.microsoft.com/office/drawing/2014/main" id="{8EFA7EFC-C6F9-B1D5-025F-824C1CE9A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3057205" y="-1430380"/>
            <a:ext cx="6077590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280195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6D87B9B-22A3-322E-B7E8-223255AD09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40168" y="5669280"/>
            <a:ext cx="6311664" cy="466344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spcBef>
                <a:spcPts val="1000"/>
              </a:spcBef>
              <a:defRPr sz="1800" cap="all" baseline="0"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6A9BC83F-8FE5-5223-2B3A-6E122D33630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597135" y="1744578"/>
            <a:ext cx="6997730" cy="3507906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6000" cap="all" baseline="0">
                <a:latin typeface="+mn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9" name="Freeform: Shape 15">
            <a:extLst>
              <a:ext uri="{FF2B5EF4-FFF2-40B4-BE49-F238E27FC236}">
                <a16:creationId xmlns:a16="http://schemas.microsoft.com/office/drawing/2014/main" id="{9F353A57-FA3C-A68C-4908-E774A52CB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2811380" y="-1681974"/>
            <a:ext cx="6569242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FEFBF98-1A40-5348-818B-B3B0F42FB182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8345E9D-D172-A141-8AB9-715EF1F37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3880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72FE6B-A4D8-8ED7-89D7-5E7F2C5B8F5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103438"/>
            <a:ext cx="51816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86405AE-ED31-677D-86D8-01EAD583735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84947" y="2103121"/>
            <a:ext cx="51816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FEFBF98-1A40-5348-818B-B3B0F42FB182}" type="datetimeFigureOut">
              <a:rPr lang="en-US" smtClean="0"/>
              <a:t>10/7/26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8345E9D-D172-A141-8AB9-715EF1F37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9717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85A6F3D-6630-C2E0-DC0A-6D2C0AACF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520" y="2103120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9C38DBB1-A1FA-A460-88C8-B05F1570CA9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743200"/>
            <a:ext cx="5157187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9360" y="2103120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2D763CC-A010-6A2B-FEF3-388EAC8417D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09361" y="2743200"/>
            <a:ext cx="51831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FEFBF98-1A40-5348-818B-B3B0F42FB182}" type="datetimeFigureOut">
              <a:rPr lang="en-US" smtClean="0"/>
              <a:t>10/7/26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8345E9D-D172-A141-8AB9-715EF1F37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82765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0796BC8-E1B7-E6D6-E86F-4A5CAECDF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FEFBF98-1A40-5348-818B-B3B0F42FB182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8345E9D-D172-A141-8AB9-715EF1F37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3146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FEFBF98-1A40-5348-818B-B3B0F42FB182}" type="datetimeFigureOut">
              <a:rPr lang="en-US" smtClean="0"/>
              <a:t>10/7/26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8345E9D-D172-A141-8AB9-715EF1F37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58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57200"/>
            <a:ext cx="7342307" cy="1133856"/>
          </a:xfrm>
          <a:noFill/>
        </p:spPr>
        <p:txBody>
          <a:bodyPr anchor="b"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2624328"/>
            <a:ext cx="10424160" cy="3200400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FEFBF98-1A40-5348-818B-B3B0F42FB182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8345E9D-D172-A141-8AB9-715EF1F37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23987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6">
            <a:extLst>
              <a:ext uri="{FF2B5EF4-FFF2-40B4-BE49-F238E27FC236}">
                <a16:creationId xmlns:a16="http://schemas.microsoft.com/office/drawing/2014/main" id="{CE8CC034-C652-239B-0064-9B0543AC2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 lang="en-US" dirty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D051F68D-E2E5-C625-0273-281CE6D4939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520" y="2301836"/>
            <a:ext cx="10741150" cy="3921165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FEFBF98-1A40-5348-818B-B3B0F42FB182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8345E9D-D172-A141-8AB9-715EF1F37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739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7" y="1143000"/>
            <a:ext cx="8683753" cy="309514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7" y="4498848"/>
            <a:ext cx="6881457" cy="101498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6343955"/>
            <a:ext cx="28054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21509" y="6343955"/>
            <a:ext cx="2875064" cy="365125"/>
          </a:xfrm>
        </p:spPr>
        <p:txBody>
          <a:bodyPr/>
          <a:lstStyle/>
          <a:p>
            <a:fld id="{7FEFBF98-1A40-5348-818B-B3B0F42FB182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45E9D-D172-A141-8AB9-715EF1F37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47972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476A66-BE83-43F9-A28B-02DF7879A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4990"/>
            <a:ext cx="10515600" cy="11168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CB382-EE11-430D-941A-DB76EEB7F2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 flipH="1">
            <a:off x="-1131161" y="1592957"/>
            <a:ext cx="29735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D76E94-F276-4F0F-8DD9-B1F8A3198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61469"/>
            <a:ext cx="10515600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D964E-3A2E-4DB9-B96A-EDE144A47B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25981" y="4687095"/>
            <a:ext cx="270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fld id="{7FEFBF98-1A40-5348-818B-B3B0F42FB182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562FE-ACD1-43F2-A3DE-5B11E10B7E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2296" y="6356350"/>
            <a:ext cx="5746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>
              <a:defRPr sz="1000">
                <a:solidFill>
                  <a:schemeClr val="tx1"/>
                </a:solidFill>
              </a:defRPr>
            </a:lvl1pPr>
          </a:lstStyle>
          <a:p>
            <a:fld id="{68345E9D-D172-A141-8AB9-715EF1F37888}" type="slidenum">
              <a:rPr lang="en-US" smtClean="0"/>
              <a:t>‹#›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EB34A3B-1FD5-48FF-9982-1E64C864C01D}"/>
              </a:ext>
            </a:extLst>
          </p:cNvPr>
          <p:cNvCxnSpPr>
            <a:cxnSpLocks/>
          </p:cNvCxnSpPr>
          <p:nvPr/>
        </p:nvCxnSpPr>
        <p:spPr>
          <a:xfrm flipH="1">
            <a:off x="4" y="1824111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0115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0" r:id="rId1"/>
    <p:sldLayoutId id="2147484011" r:id="rId2"/>
    <p:sldLayoutId id="2147484012" r:id="rId3"/>
    <p:sldLayoutId id="2147484013" r:id="rId4"/>
    <p:sldLayoutId id="2147484014" r:id="rId5"/>
    <p:sldLayoutId id="2147484015" r:id="rId6"/>
    <p:sldLayoutId id="2147484016" r:id="rId7"/>
    <p:sldLayoutId id="2147484017" r:id="rId8"/>
    <p:sldLayoutId id="2147484018" r:id="rId9"/>
    <p:sldLayoutId id="2147484019" r:id="rId10"/>
    <p:sldLayoutId id="2147484020" r:id="rId11"/>
    <p:sldLayoutId id="2147484021" r:id="rId12"/>
    <p:sldLayoutId id="2147484022" r:id="rId13"/>
    <p:sldLayoutId id="2147484023" r:id="rId14"/>
    <p:sldLayoutId id="2147484024" r:id="rId15"/>
    <p:sldLayoutId id="2147484025" r:id="rId16"/>
    <p:sldLayoutId id="2147484026" r:id="rId17"/>
    <p:sldLayoutId id="2147484027" r:id="rId18"/>
    <p:sldLayoutId id="2147484028" r:id="rId19"/>
    <p:sldLayoutId id="2147484029" r:id="rId20"/>
    <p:sldLayoutId id="2147484030" r:id="rId21"/>
    <p:sldLayoutId id="2147484031" r:id="rId22"/>
    <p:sldLayoutId id="2147484032" r:id="rId23"/>
    <p:sldLayoutId id="2147484033" r:id="rId24"/>
    <p:sldLayoutId id="2147484034" r:id="rId25"/>
    <p:sldLayoutId id="2147484035" r:id="rId26"/>
    <p:sldLayoutId id="2147484036" r:id="rId27"/>
    <p:sldLayoutId id="2147484037" r:id="rId2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SzPct val="80000"/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600" i="1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400" i="1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28">
          <p15:clr>
            <a:srgbClr val="F26B43"/>
          </p15:clr>
        </p15:guide>
        <p15:guide id="2" pos="528">
          <p15:clr>
            <a:srgbClr val="F26B43"/>
          </p15:clr>
        </p15:guide>
        <p15:guide id="3" orient="horz" pos="3792">
          <p15:clr>
            <a:srgbClr val="F26B43"/>
          </p15:clr>
        </p15:guide>
        <p15:guide id="4" pos="715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data.cityofnewyork.us/Environment/2015-Street-Tree-Census-Tree-Data/uvpi-gqnh?utm_source=chatgpt.com" TargetMode="External"/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C70FA-3EAC-9D18-AE4E-864FDE39A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4572000" cy="932688"/>
          </a:xfrm>
        </p:spPr>
        <p:txBody>
          <a:bodyPr anchor="b">
            <a:normAutofit/>
          </a:bodyPr>
          <a:lstStyle/>
          <a:p>
            <a:r>
              <a:rPr lang="en-US" sz="3000" b="1"/>
              <a:t>NYC Street Tree Health Analysis</a:t>
            </a:r>
            <a:endParaRPr lang="en-US" sz="30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A742EE-4F84-EE82-B6D4-0997517EBB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4572000" cy="4983480"/>
          </a:xfrm>
        </p:spPr>
        <p:txBody>
          <a:bodyPr>
            <a:normAutofit/>
          </a:bodyPr>
          <a:lstStyle/>
          <a:p>
            <a:br>
              <a:rPr lang="en-US" b="1"/>
            </a:br>
            <a:r>
              <a:rPr lang="en-US" b="1"/>
              <a:t>What factors are associated with the health of NYC street trees?</a:t>
            </a:r>
            <a:br>
              <a:rPr lang="en-US"/>
            </a:br>
            <a:r>
              <a:rPr lang="en-US"/>
              <a:t>Capstone Project</a:t>
            </a:r>
            <a:br>
              <a:rPr lang="en-US"/>
            </a:br>
            <a:r>
              <a:rPr lang="en-US"/>
              <a:t>Sumit Shrestha</a:t>
            </a:r>
            <a:br>
              <a:rPr lang="en-US"/>
            </a:br>
            <a:r>
              <a:rPr lang="en-US"/>
              <a:t>CUNY LaGuardia Community College</a:t>
            </a:r>
            <a:br>
              <a:rPr lang="en-US"/>
            </a:b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51822E-5481-18B9-C1E8-8872B6EF2ED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984" r="9554"/>
          <a:stretch>
            <a:fillRect/>
          </a:stretch>
        </p:blipFill>
        <p:spPr>
          <a:xfrm>
            <a:off x="5917720" y="10"/>
            <a:ext cx="6274279" cy="68579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094285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C9624-4F54-12EB-52F4-A0D6EB468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841248"/>
            <a:ext cx="2999232" cy="5184648"/>
          </a:xfrm>
        </p:spPr>
        <p:txBody>
          <a:bodyPr>
            <a:normAutofit/>
          </a:bodyPr>
          <a:lstStyle/>
          <a:p>
            <a:r>
              <a:rPr lang="en-US"/>
              <a:t>Goal &amp; 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4B3BEA-7486-EC25-4648-6AD0EE31EB6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66926" y="841248"/>
            <a:ext cx="6260154" cy="5184648"/>
          </a:xfrm>
        </p:spPr>
        <p:txBody>
          <a:bodyPr>
            <a:normAutofit/>
          </a:bodyPr>
          <a:lstStyle/>
          <a:p>
            <a:pPr lvl="0"/>
            <a:r>
              <a:rPr lang="en-US"/>
              <a:t>NYC street trees provide environmental and community benefits.</a:t>
            </a:r>
          </a:p>
          <a:p>
            <a:pPr lvl="0"/>
            <a:r>
              <a:rPr lang="en-US"/>
              <a:t>Tree health can vary across different areas of the city.</a:t>
            </a:r>
          </a:p>
          <a:p>
            <a:pPr lvl="0"/>
            <a:r>
              <a:rPr lang="en-US"/>
              <a:t>This project looks for patterns in tree health.</a:t>
            </a:r>
          </a:p>
          <a:p>
            <a:pPr lvl="0"/>
            <a:r>
              <a:rPr lang="en-US" b="1"/>
              <a:t>Research question:</a:t>
            </a:r>
            <a:r>
              <a:rPr lang="en-US"/>
              <a:t> What factors are associated with the health of NYC street trees?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9506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06282-DCC5-28B5-4719-7FA298A3E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841248"/>
            <a:ext cx="2999232" cy="5184648"/>
          </a:xfrm>
        </p:spPr>
        <p:txBody>
          <a:bodyPr>
            <a:normAutofit/>
          </a:bodyPr>
          <a:lstStyle/>
          <a:p>
            <a:r>
              <a:rPr lang="en-US"/>
              <a:t>Data Source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ACA4D2-453C-CEEF-8DAA-E76EE5C9E8E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66926" y="841248"/>
            <a:ext cx="6260154" cy="5184648"/>
          </a:xfrm>
        </p:spPr>
        <p:txBody>
          <a:bodyPr>
            <a:normAutofit/>
          </a:bodyPr>
          <a:lstStyle/>
          <a:p>
            <a:r>
              <a:rPr lang="en-US" b="1"/>
              <a:t>Source:</a:t>
            </a:r>
            <a:r>
              <a:rPr lang="en-US"/>
              <a:t> NYC Open Data — 2015 Street Tree Census</a:t>
            </a:r>
          </a:p>
          <a:p>
            <a:pPr lvl="0"/>
            <a:r>
              <a:rPr lang="en-US"/>
              <a:t>Original dataset contains information about NYC street trees.</a:t>
            </a:r>
          </a:p>
          <a:p>
            <a:pPr lvl="0"/>
            <a:r>
              <a:rPr lang="en-US"/>
              <a:t>Data includes tree health, diameter, species, borough, and other characteristics.</a:t>
            </a:r>
          </a:p>
          <a:p>
            <a:pPr lvl="0"/>
            <a:r>
              <a:rPr lang="en-US" b="1"/>
              <a:t>100,000 records</a:t>
            </a:r>
            <a:r>
              <a:rPr lang="en-US"/>
              <a:t> were imported for this project.</a:t>
            </a:r>
          </a:p>
          <a:p>
            <a:pPr lvl="0"/>
            <a:r>
              <a:rPr lang="en-US"/>
              <a:t>After cleaning: </a:t>
            </a:r>
            <a:r>
              <a:rPr lang="en-US" b="1"/>
              <a:t>94,811 trees</a:t>
            </a:r>
            <a:endParaRPr lang="en-US"/>
          </a:p>
          <a:p>
            <a:pPr lvl="0"/>
            <a:r>
              <a:rPr lang="en-US"/>
              <a:t>Final analysis used </a:t>
            </a:r>
            <a:r>
              <a:rPr lang="en-US" b="1"/>
              <a:t>9 variables</a:t>
            </a:r>
            <a:r>
              <a:rPr lang="en-US"/>
              <a:t>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3247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63866-BD37-4090-9634-365A71514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Cleaning &amp;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5EFF63-2978-84BB-04F8-E51B7909E8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/>
              <a:t>Cleaning</a:t>
            </a:r>
            <a:endParaRPr lang="en-US"/>
          </a:p>
          <a:p>
            <a:pPr lvl="0"/>
            <a:r>
              <a:rPr lang="en-US"/>
              <a:t>Selected relevant columns.</a:t>
            </a:r>
          </a:p>
          <a:p>
            <a:pPr lvl="0"/>
            <a:r>
              <a:rPr lang="en-US"/>
              <a:t>Removed non-living trees.</a:t>
            </a:r>
          </a:p>
          <a:p>
            <a:pPr lvl="0"/>
            <a:r>
              <a:rPr lang="en-US"/>
              <a:t>Removed missing health and borough values.</a:t>
            </a:r>
          </a:p>
          <a:p>
            <a:pPr lvl="0"/>
            <a:r>
              <a:rPr lang="en-US"/>
              <a:t>Removed trees with zero diameter.</a:t>
            </a:r>
          </a:p>
          <a:p>
            <a:r>
              <a:rPr lang="en-US" b="1"/>
              <a:t>Transformations</a:t>
            </a:r>
            <a:endParaRPr lang="en-US"/>
          </a:p>
          <a:p>
            <a:pPr lvl="0"/>
            <a:r>
              <a:rPr lang="en-US"/>
              <a:t>Cleaned text columns.</a:t>
            </a:r>
          </a:p>
          <a:p>
            <a:pPr lvl="0"/>
            <a:r>
              <a:rPr lang="en-US"/>
              <a:t>Created tree size categories.</a:t>
            </a:r>
          </a:p>
          <a:p>
            <a:pPr lvl="0"/>
            <a:r>
              <a:rPr lang="en-US"/>
              <a:t>Created a healthy-tree indicator.</a:t>
            </a:r>
          </a:p>
          <a:p>
            <a:r>
              <a:rPr lang="en-US" b="1"/>
              <a:t>Analysis</a:t>
            </a:r>
            <a:endParaRPr lang="en-US"/>
          </a:p>
          <a:p>
            <a:pPr lvl="0"/>
            <a:r>
              <a:rPr lang="en-US"/>
              <a:t>Descriptive statistics</a:t>
            </a:r>
          </a:p>
          <a:p>
            <a:pPr lvl="0"/>
            <a:r>
              <a:rPr lang="en-US"/>
              <a:t>Bar charts</a:t>
            </a:r>
          </a:p>
          <a:p>
            <a:pPr lvl="0"/>
            <a:r>
              <a:rPr lang="en-US"/>
              <a:t>Percentage comparisons</a:t>
            </a:r>
          </a:p>
          <a:p>
            <a:pPr lvl="0"/>
            <a:r>
              <a:rPr lang="en-US"/>
              <a:t>Chi-square test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6027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ECBD9-0520-09E3-A704-BB3BE1032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kern="1200" cap="all" baseline="0">
                <a:latin typeface="+mj-lt"/>
                <a:ea typeface="+mj-ea"/>
                <a:cs typeface="+mj-cs"/>
              </a:rPr>
              <a:t>Overall Tree Health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FBBD8A-2EC9-174C-E8FB-FF87750D9D24}"/>
              </a:ext>
            </a:extLst>
          </p:cNvPr>
          <p:cNvSpPr txBox="1"/>
          <p:nvPr/>
        </p:nvSpPr>
        <p:spPr>
          <a:xfrm>
            <a:off x="731838" y="2103438"/>
            <a:ext cx="5181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10000"/>
              </a:lnSpc>
              <a:spcBef>
                <a:spcPts val="1000"/>
              </a:spcBef>
              <a:buSzPct val="80000"/>
            </a:pPr>
            <a:r>
              <a:rPr lang="en-US" b="1"/>
              <a:t>Health Distribution</a:t>
            </a:r>
            <a:endParaRPr lang="en-US"/>
          </a:p>
          <a:p>
            <a:pPr lvl="0">
              <a:lnSpc>
                <a:spcPct val="110000"/>
              </a:lnSpc>
              <a:spcBef>
                <a:spcPts val="1000"/>
              </a:spcBef>
              <a:buSzPct val="80000"/>
            </a:pPr>
            <a:r>
              <a:rPr lang="en-US"/>
              <a:t>Good: </a:t>
            </a:r>
            <a:r>
              <a:rPr lang="en-US" b="1"/>
              <a:t>76.13%</a:t>
            </a:r>
            <a:endParaRPr lang="en-US"/>
          </a:p>
          <a:p>
            <a:pPr lvl="0">
              <a:lnSpc>
                <a:spcPct val="110000"/>
              </a:lnSpc>
              <a:spcBef>
                <a:spcPts val="1000"/>
              </a:spcBef>
              <a:buSzPct val="80000"/>
            </a:pPr>
            <a:r>
              <a:rPr lang="en-US"/>
              <a:t>Fair: </a:t>
            </a:r>
            <a:r>
              <a:rPr lang="en-US" b="1"/>
              <a:t>18.19%</a:t>
            </a:r>
            <a:endParaRPr lang="en-US"/>
          </a:p>
          <a:p>
            <a:pPr lvl="0">
              <a:lnSpc>
                <a:spcPct val="110000"/>
              </a:lnSpc>
              <a:spcBef>
                <a:spcPts val="1000"/>
              </a:spcBef>
              <a:buSzPct val="80000"/>
            </a:pPr>
            <a:r>
              <a:rPr lang="en-US"/>
              <a:t>Poor: </a:t>
            </a:r>
            <a:r>
              <a:rPr lang="en-US" b="1"/>
              <a:t>5.68%</a:t>
            </a:r>
            <a:endParaRPr lang="en-US"/>
          </a:p>
          <a:p>
            <a:pPr>
              <a:lnSpc>
                <a:spcPct val="110000"/>
              </a:lnSpc>
              <a:spcBef>
                <a:spcPts val="1000"/>
              </a:spcBef>
              <a:buSzPct val="80000"/>
            </a:pPr>
            <a:r>
              <a:rPr lang="en-US" b="1"/>
              <a:t>Median diameter</a:t>
            </a:r>
            <a:endParaRPr lang="en-US"/>
          </a:p>
          <a:p>
            <a:pPr lvl="0">
              <a:lnSpc>
                <a:spcPct val="110000"/>
              </a:lnSpc>
              <a:spcBef>
                <a:spcPts val="1000"/>
              </a:spcBef>
              <a:buSzPct val="80000"/>
            </a:pPr>
            <a:r>
              <a:rPr lang="en-US"/>
              <a:t>Good: 10 inches</a:t>
            </a:r>
          </a:p>
          <a:p>
            <a:pPr lvl="0">
              <a:lnSpc>
                <a:spcPct val="110000"/>
              </a:lnSpc>
              <a:spcBef>
                <a:spcPts val="1000"/>
              </a:spcBef>
              <a:buSzPct val="80000"/>
            </a:pPr>
            <a:r>
              <a:rPr lang="en-US"/>
              <a:t>Fair: 10 inches</a:t>
            </a:r>
          </a:p>
          <a:p>
            <a:pPr lvl="0">
              <a:lnSpc>
                <a:spcPct val="110000"/>
              </a:lnSpc>
              <a:spcBef>
                <a:spcPts val="1000"/>
              </a:spcBef>
              <a:buSzPct val="80000"/>
            </a:pPr>
            <a:r>
              <a:rPr lang="en-US"/>
              <a:t>Poor: 7 inches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4243C71-6AC8-324E-D213-8D35E19CECA3}"/>
              </a:ext>
            </a:extLst>
          </p:cNvPr>
          <p:cNvPicPr>
            <a:picLocks noGrp="1" noChangeAspect="1"/>
          </p:cNvPicPr>
          <p:nvPr>
            <p:ph sz="quarter" idx="16"/>
          </p:nvPr>
        </p:nvPicPr>
        <p:blipFill>
          <a:blip r:embed="rId3"/>
          <a:stretch>
            <a:fillRect/>
          </a:stretch>
        </p:blipFill>
        <p:spPr>
          <a:xfrm>
            <a:off x="3657600" y="1872344"/>
            <a:ext cx="7808947" cy="4822632"/>
          </a:xfrm>
          <a:prstGeom prst="rect">
            <a:avLst/>
          </a:prstGeom>
          <a:noFill/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8E90D50-500F-67A6-F421-038AC3CC87AE}"/>
              </a:ext>
            </a:extLst>
          </p:cNvPr>
          <p:cNvSpPr txBox="1"/>
          <p:nvPr/>
        </p:nvSpPr>
        <p:spPr>
          <a:xfrm>
            <a:off x="9707671" y="4722312"/>
            <a:ext cx="184731" cy="14311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endParaRPr lang="en-US"/>
          </a:p>
          <a:p>
            <a:pPr>
              <a:spcAft>
                <a:spcPts val="600"/>
              </a:spcAft>
            </a:pPr>
            <a:endParaRPr lang="en-US"/>
          </a:p>
          <a:p>
            <a:pPr>
              <a:spcAft>
                <a:spcPts val="600"/>
              </a:spcAft>
            </a:pPr>
            <a:endParaRPr lang="en-US"/>
          </a:p>
          <a:p>
            <a:pPr>
              <a:spcAft>
                <a:spcPts val="600"/>
              </a:spcAft>
            </a:pPr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EB7CCC7-353F-CCA3-48DB-DD02F4B0A58C}"/>
              </a:ext>
            </a:extLst>
          </p:cNvPr>
          <p:cNvSpPr txBox="1"/>
          <p:nvPr/>
        </p:nvSpPr>
        <p:spPr>
          <a:xfrm>
            <a:off x="876822" y="632564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3197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B2FC4-CA2D-726F-17C4-3F37CCF29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700" kern="1200" cap="all" baseline="0">
                <a:latin typeface="+mj-lt"/>
                <a:ea typeface="+mj-ea"/>
                <a:cs typeface="+mj-cs"/>
              </a:rPr>
              <a:t>Main Finding: Tree Health by Borough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3D31BA-9F5F-FBF8-EE56-9AFA87048872}"/>
              </a:ext>
            </a:extLst>
          </p:cNvPr>
          <p:cNvSpPr txBox="1"/>
          <p:nvPr/>
        </p:nvSpPr>
        <p:spPr>
          <a:xfrm>
            <a:off x="731838" y="2103438"/>
            <a:ext cx="5181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10000"/>
              </a:lnSpc>
              <a:spcBef>
                <a:spcPts val="1000"/>
              </a:spcBef>
              <a:buSzPct val="80000"/>
            </a:pPr>
            <a:r>
              <a:rPr lang="en-US" b="1"/>
              <a:t>Percentage of Healthy Trees</a:t>
            </a:r>
            <a:endParaRPr lang="en-US"/>
          </a:p>
          <a:p>
            <a:pPr lvl="0">
              <a:lnSpc>
                <a:spcPct val="110000"/>
              </a:lnSpc>
              <a:spcBef>
                <a:spcPts val="1000"/>
              </a:spcBef>
              <a:buSzPct val="80000"/>
            </a:pPr>
            <a:r>
              <a:rPr lang="en-US"/>
              <a:t>Bronx: </a:t>
            </a:r>
            <a:r>
              <a:rPr lang="en-US" b="1"/>
              <a:t>79.58%</a:t>
            </a:r>
            <a:endParaRPr lang="en-US"/>
          </a:p>
          <a:p>
            <a:pPr lvl="0">
              <a:lnSpc>
                <a:spcPct val="110000"/>
              </a:lnSpc>
              <a:spcBef>
                <a:spcPts val="1000"/>
              </a:spcBef>
              <a:buSzPct val="80000"/>
            </a:pPr>
            <a:r>
              <a:rPr lang="en-US"/>
              <a:t>Brooklyn: </a:t>
            </a:r>
            <a:r>
              <a:rPr lang="en-US" b="1"/>
              <a:t>78.49%</a:t>
            </a:r>
            <a:endParaRPr lang="en-US"/>
          </a:p>
          <a:p>
            <a:pPr lvl="0">
              <a:lnSpc>
                <a:spcPct val="110000"/>
              </a:lnSpc>
              <a:spcBef>
                <a:spcPts val="1000"/>
              </a:spcBef>
              <a:buSzPct val="80000"/>
            </a:pPr>
            <a:r>
              <a:rPr lang="en-US"/>
              <a:t>Staten Island: </a:t>
            </a:r>
            <a:r>
              <a:rPr lang="en-US" b="1"/>
              <a:t>76.58%</a:t>
            </a:r>
            <a:endParaRPr lang="en-US"/>
          </a:p>
          <a:p>
            <a:pPr lvl="0">
              <a:lnSpc>
                <a:spcPct val="110000"/>
              </a:lnSpc>
              <a:spcBef>
                <a:spcPts val="1000"/>
              </a:spcBef>
              <a:buSzPct val="80000"/>
            </a:pPr>
            <a:r>
              <a:rPr lang="en-US"/>
              <a:t>Queens: </a:t>
            </a:r>
            <a:r>
              <a:rPr lang="en-US" b="1"/>
              <a:t>74.46%</a:t>
            </a:r>
            <a:endParaRPr lang="en-US"/>
          </a:p>
          <a:p>
            <a:pPr lvl="0">
              <a:lnSpc>
                <a:spcPct val="110000"/>
              </a:lnSpc>
              <a:spcBef>
                <a:spcPts val="1000"/>
              </a:spcBef>
              <a:buSzPct val="80000"/>
            </a:pPr>
            <a:r>
              <a:rPr lang="en-US"/>
              <a:t>Manhattan: </a:t>
            </a:r>
            <a:r>
              <a:rPr lang="en-US" b="1"/>
              <a:t>73.07%</a:t>
            </a:r>
            <a:endParaRPr lang="en-US"/>
          </a:p>
          <a:p>
            <a:pPr>
              <a:lnSpc>
                <a:spcPct val="110000"/>
              </a:lnSpc>
              <a:spcBef>
                <a:spcPts val="1000"/>
              </a:spcBef>
              <a:buSzPct val="80000"/>
            </a:pPr>
            <a:r>
              <a:rPr lang="en-US" b="1"/>
              <a:t>Chi-square test:</a:t>
            </a:r>
            <a:br>
              <a:rPr lang="en-US"/>
            </a:br>
            <a:r>
              <a:rPr lang="en-US"/>
              <a:t>χ² = 402.81</a:t>
            </a:r>
            <a:br>
              <a:rPr lang="en-US"/>
            </a:br>
            <a:r>
              <a:rPr lang="en-US"/>
              <a:t>p &lt; 0.001</a:t>
            </a:r>
          </a:p>
          <a:p>
            <a:pPr>
              <a:lnSpc>
                <a:spcPct val="110000"/>
              </a:lnSpc>
              <a:spcBef>
                <a:spcPts val="1000"/>
              </a:spcBef>
              <a:buSzPct val="80000"/>
            </a:pPr>
            <a:r>
              <a:rPr lang="en-US" b="1"/>
              <a:t>Result:</a:t>
            </a:r>
            <a:r>
              <a:rPr lang="en-US"/>
              <a:t> Borough and tree health have a statistically significant association.</a:t>
            </a:r>
          </a:p>
          <a:p>
            <a:pPr>
              <a:lnSpc>
                <a:spcPct val="110000"/>
              </a:lnSpc>
              <a:spcBef>
                <a:spcPts val="1000"/>
              </a:spcBef>
              <a:buSzPct val="80000"/>
            </a:pPr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B2D52CD-0911-685D-A903-025A9914BAAD}"/>
              </a:ext>
            </a:extLst>
          </p:cNvPr>
          <p:cNvPicPr>
            <a:picLocks noGrp="1" noChangeAspect="1"/>
          </p:cNvPicPr>
          <p:nvPr>
            <p:ph sz="quarter" idx="16"/>
          </p:nvPr>
        </p:nvPicPr>
        <p:blipFill>
          <a:blip r:embed="rId2"/>
          <a:stretch>
            <a:fillRect/>
          </a:stretch>
        </p:blipFill>
        <p:spPr>
          <a:xfrm>
            <a:off x="5442857" y="1872343"/>
            <a:ext cx="6487886" cy="435133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899350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285C0-E0AB-89C1-AA78-FF172EC45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kern="1200" cap="all" baseline="0">
                <a:latin typeface="+mj-lt"/>
                <a:ea typeface="+mj-ea"/>
                <a:cs typeface="+mj-cs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78A2F2-48DF-23CD-893C-9DDA3175890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103438"/>
            <a:ext cx="5181600" cy="4351337"/>
          </a:xfr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Tree health varies across NYC boroughs.</a:t>
            </a:r>
          </a:p>
          <a:p>
            <a:pPr lvl="0"/>
            <a:r>
              <a:rPr lang="en-US"/>
              <a:t>The Bronx had the highest percentage of healthy trees.</a:t>
            </a:r>
          </a:p>
          <a:p>
            <a:pPr lvl="0"/>
            <a:r>
              <a:rPr lang="en-US"/>
              <a:t>Manhattan had the lowest percentage.</a:t>
            </a:r>
          </a:p>
          <a:p>
            <a:pPr lvl="0"/>
            <a:r>
              <a:rPr lang="en-US"/>
              <a:t>Borough and tree health showed a statistically significant association.</a:t>
            </a:r>
          </a:p>
          <a:p>
            <a:pPr lvl="0"/>
            <a:r>
              <a:rPr lang="en-US"/>
              <a:t>Poor-health trees had a lower median diameter.</a:t>
            </a:r>
          </a:p>
          <a:p>
            <a:pPr lvl="0"/>
            <a:r>
              <a:rPr lang="en-US" b="1"/>
              <a:t>Association does not mean causation.</a:t>
            </a:r>
            <a:endParaRPr lang="en-US"/>
          </a:p>
          <a:p>
            <a:r>
              <a:rPr lang="en-US" b="1"/>
              <a:t>Limitation:</a:t>
            </a:r>
            <a:br>
              <a:rPr lang="en-US"/>
            </a:br>
            <a:r>
              <a:rPr lang="en-US"/>
              <a:t>The analysis uses 100,000 records from the 2015 dataset and does not represent current tree conditions.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522426-A8F8-E308-6DAD-C51DAD67F682}"/>
              </a:ext>
            </a:extLst>
          </p:cNvPr>
          <p:cNvSpPr txBox="1"/>
          <p:nvPr/>
        </p:nvSpPr>
        <p:spPr>
          <a:xfrm>
            <a:off x="6284947" y="2103121"/>
            <a:ext cx="5181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10000"/>
              </a:lnSpc>
              <a:spcBef>
                <a:spcPts val="1000"/>
              </a:spcBef>
              <a:buSzPct val="80000"/>
            </a:pPr>
            <a:r>
              <a:rPr lang="en-US" b="1"/>
              <a:t>Source:</a:t>
            </a:r>
            <a:r>
              <a:rPr lang="en-US"/>
              <a:t> NYC Open Data, 2015 Street Tree Census — Tree Data</a:t>
            </a:r>
          </a:p>
          <a:p>
            <a:pPr>
              <a:lnSpc>
                <a:spcPct val="110000"/>
              </a:lnSpc>
              <a:spcBef>
                <a:spcPts val="1000"/>
              </a:spcBef>
              <a:buSzPct val="80000"/>
            </a:pPr>
            <a:r>
              <a:rPr lang="en-US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Official NYC Open Data Dataset</a:t>
            </a:r>
            <a:endParaRPr lang="en-US"/>
          </a:p>
          <a:p>
            <a:pPr>
              <a:lnSpc>
                <a:spcPct val="110000"/>
              </a:lnSpc>
              <a:spcBef>
                <a:spcPts val="1000"/>
              </a:spcBef>
              <a:buSzPct val="80000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320426"/>
      </p:ext>
    </p:extLst>
  </p:cSld>
  <p:clrMapOvr>
    <a:masterClrMapping/>
  </p:clrMapOvr>
</p:sld>
</file>

<file path=ppt/theme/theme1.xml><?xml version="1.0" encoding="utf-8"?>
<a:theme xmlns:a="http://schemas.openxmlformats.org/drawingml/2006/main" name="Archway">
  <a:themeElements>
    <a:clrScheme name="Archway">
      <a:dk1>
        <a:sysClr val="windowText" lastClr="000000"/>
      </a:dk1>
      <a:lt1>
        <a:sysClr val="window" lastClr="FFFFFF"/>
      </a:lt1>
      <a:dk2>
        <a:srgbClr val="424C4E"/>
      </a:dk2>
      <a:lt2>
        <a:srgbClr val="EDE9E7"/>
      </a:lt2>
      <a:accent1>
        <a:srgbClr val="9FA597"/>
      </a:accent1>
      <a:accent2>
        <a:srgbClr val="AEA67E"/>
      </a:accent2>
      <a:accent3>
        <a:srgbClr val="957D71"/>
      </a:accent3>
      <a:accent4>
        <a:srgbClr val="C88769"/>
      </a:accent4>
      <a:accent5>
        <a:srgbClr val="97A4AA"/>
      </a:accent5>
      <a:accent6>
        <a:srgbClr val="9FA4A5"/>
      </a:accent6>
      <a:hlink>
        <a:srgbClr val="8C9484"/>
      </a:hlink>
      <a:folHlink>
        <a:srgbClr val="C17957"/>
      </a:folHlink>
    </a:clrScheme>
    <a:fontScheme name="Archway">
      <a:majorFont>
        <a:latin typeface="Felix Titling"/>
        <a:ea typeface=""/>
        <a:cs typeface=""/>
      </a:majorFont>
      <a:minorFont>
        <a:latin typeface="Goudy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rchway" id="{CCBE687C-D9F1-4254-B066-5079611C2397}" vid="{9D57D580-D4A7-454F-BF49-8DDDB4A8185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Archway</Template>
  <TotalTime>51</TotalTime>
  <Words>355</Words>
  <Application>Microsoft Macintosh PowerPoint</Application>
  <PresentationFormat>Widescreen</PresentationFormat>
  <Paragraphs>60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Arial</vt:lpstr>
      <vt:lpstr>Felix Titling</vt:lpstr>
      <vt:lpstr>Goudy Old Style</vt:lpstr>
      <vt:lpstr>Archway</vt:lpstr>
      <vt:lpstr>NYC Street Tree Health Analysis</vt:lpstr>
      <vt:lpstr>Goal &amp; Motivation</vt:lpstr>
      <vt:lpstr>Data Source</vt:lpstr>
      <vt:lpstr>Data Cleaning &amp; Methodology</vt:lpstr>
      <vt:lpstr>Overall Tree Health</vt:lpstr>
      <vt:lpstr>Main Finding: Tree Health by Borough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Nkhil Magar</dc:creator>
  <cp:lastModifiedBy>Nkhil Magar</cp:lastModifiedBy>
  <cp:revision>1</cp:revision>
  <dcterms:created xsi:type="dcterms:W3CDTF">2026-10-07T22:26:47Z</dcterms:created>
  <dcterms:modified xsi:type="dcterms:W3CDTF">2026-10-07T23:18:04Z</dcterms:modified>
</cp:coreProperties>
</file>